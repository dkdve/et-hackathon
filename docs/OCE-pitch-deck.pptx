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One line: we built the operational memory of a plant. When equipment misbehaves, the engineer gets the complete evidence-backed picture in 90 seconds instead of reconstructing it for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on this slide is from the hackathon problem statement itself. Then make it concrete: the 3am seal leak. The pain is not missing information — it is unassembled context at the moment of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difference from every RAG chatbot: asking a good question presupposes the context the engineer lacks. So the system acts on the event, not the question. Walk the three rows; the right card is what one event assembles in under a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 3 numbers. Read the three phrasings out loud — that is the vocabulary problem no keyword search solves. Then the honesty cards: accuracy is audited, not asserted, and the 93.7-to-96.6 improvement came from the product's own review queue finding our oldest known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slide. The proudest sentence: the demo's climactic discovery is a database query over a normalized substrate — the LLM reasons over evidence, it never retrieves it. Then the governance band: traces, evals, guardrails, and human review are tabs in the product you can click, not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compounding-memory moat and Ramesh: his 31 years stop walking out the door. Point at the repo — the decision log answers most Q&amp;A questions verbatim. End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CONTEXT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plant's operational memory.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operational decisions in 90 seconds — not 4 hours.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AI Hackathon 2.0  ·  AI for Industrial Knowledge Intelligence — Unified Asset &amp; Operations Brain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32520" y="1600200"/>
            <a:ext cx="2834640" cy="2834640"/>
          </a:xfrm>
          <a:prstGeom prst="ellipse">
            <a:avLst/>
          </a:prstGeom>
          <a:solidFill>
            <a:srgbClr val="17222F"/>
          </a:solidFill>
          <a:ln w="317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32520" y="21488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trike="sngStrike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hrs</a:t>
            </a:r>
            <a:endParaRPr lang="en-US" sz="20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time-to-context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3am problem — in the organizers' own numbers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working hours spent searching for information that already exists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9136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McKinsey 2024, asset-intensive industries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6459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749040" y="260604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document systems in the average large Indian plant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9136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NASSCOM–EY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6459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18–22%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unplanned downtime traced to knowledge fragmentation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9136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Research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18320" y="1371600"/>
            <a:ext cx="2670048" cy="3017520"/>
          </a:xfrm>
          <a:prstGeom prst="roundRect">
            <a:avLst>
              <a:gd name="adj" fmla="val 2740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0" y="164592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601200" y="2606040"/>
            <a:ext cx="23042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experienced engineers retire within a decade — knowledge unrecoverable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0" y="391363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estimate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75504"/>
            <a:ext cx="566928" cy="566928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124" y="5300228"/>
            <a:ext cx="317480" cy="317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91640" y="4983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3am. Pump P-3401 drips at the mechanical seal. </a:t>
            </a:r>
            <a:pPr indent="0" marL="0">
              <a:buNone/>
            </a:pPr>
            <a:r>
              <a:rPr lang="en-US" sz="14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exists — scattered across five systems and the memory of an engineer who retires in eight months. Assembling it takes 2–4 hours. The decision is needed in minutes.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inversion: the engineer never searches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answers questions. We removed the question.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64792"/>
            <a:ext cx="603504" cy="603504"/>
          </a:xfrm>
          <a:prstGeom prst="ellipse">
            <a:avLst/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71" y="1897563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not ask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08760" y="2075688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Operational Event fires — from an operator, a simulator, or (roadmap) your historian. The Context Dossier assembles automatically: history, sister-asset incidents, manual sections, SOPs, probable causes, actions.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337560"/>
            <a:ext cx="603504" cy="603504"/>
          </a:xfrm>
          <a:prstGeom prst="ellipse">
            <a:avLst/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1" y="3470331"/>
            <a:ext cx="337962" cy="3379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64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or a labeled hypothesis. No third state.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3648456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carries chips resolving to a work order or an exact manual page. Ungrounded claims are labeled. Unsupported safety notes are deleted, never guessed.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4910328"/>
            <a:ext cx="603504" cy="603504"/>
          </a:xfrm>
          <a:prstGeom prst="ellipse">
            <a:avLst/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5043099"/>
            <a:ext cx="337962" cy="3379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837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what it doesn't know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08760" y="522122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something outside the assembled records and it refuses — calmly, correctly. Trust is the product; refusal is a feature we demo.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452360" y="1645920"/>
            <a:ext cx="4069080" cy="4709160"/>
          </a:xfrm>
          <a:prstGeom prst="roundRect">
            <a:avLst>
              <a:gd name="adj" fmla="val 1798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72668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OPERATIONAL EVENT ASSEMBLES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772400" y="2368296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4"/>
          <p:cNvSpPr/>
          <p:nvPr/>
        </p:nvSpPr>
        <p:spPr>
          <a:xfrm>
            <a:off x="8001000" y="2286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profile + P&amp;ID reference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772400" y="284378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6"/>
          <p:cNvSpPr/>
          <p:nvPr/>
        </p:nvSpPr>
        <p:spPr>
          <a:xfrm>
            <a:off x="8001000" y="27614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work orders of failure history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772400" y="3319272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3" name="Text 18"/>
          <p:cNvSpPr/>
          <p:nvPr/>
        </p:nvSpPr>
        <p:spPr>
          <a:xfrm>
            <a:off x="8001000" y="3236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sister-asset incidents (vocabulary-normalized)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772400" y="37947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0"/>
          <p:cNvSpPr/>
          <p:nvPr/>
        </p:nvSpPr>
        <p:spPr>
          <a:xfrm>
            <a:off x="8001000" y="37124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manual + SOP sections, page-exact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772400" y="427024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Text 22"/>
          <p:cNvSpPr/>
          <p:nvPr/>
        </p:nvSpPr>
        <p:spPr>
          <a:xfrm>
            <a:off x="8001000" y="418795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failure patterns, ₹-quantified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772400" y="4745736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9" name="Text 24"/>
          <p:cNvSpPr/>
          <p:nvPr/>
        </p:nvSpPr>
        <p:spPr>
          <a:xfrm>
            <a:off x="8001000" y="4663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causes with Evidence Strength tiers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772400" y="522122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6"/>
          <p:cNvSpPr/>
          <p:nvPr/>
        </p:nvSpPr>
        <p:spPr>
          <a:xfrm>
            <a:off x="8001000" y="5138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+ safety notes, SOP-cited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772400" y="5696712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28"/>
          <p:cNvSpPr/>
          <p:nvPr/>
        </p:nvSpPr>
        <p:spPr>
          <a:xfrm>
            <a:off x="8001000" y="5614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chat with honest refusals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found in 500 messy work orders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949440" cy="3749040"/>
          </a:xfrm>
          <a:prstGeom prst="roundRect">
            <a:avLst>
              <a:gd name="adj" fmla="val 1951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flush-line blockages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 months · 99.1 h · ≈ ₹4.5 Cr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4340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CULMINATING IN — ACUTE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43400" y="175564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seal failures, 3 sister pumps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months · 41.0 h · ≈ ₹1.8 Cr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6400800" cy="0"/>
          </a:xfrm>
          <a:prstGeom prst="line">
            <a:avLst/>
          </a:prstGeom>
          <a:noFill/>
          <a:ln w="12700">
            <a:solidFill>
              <a:srgbClr val="2635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technicians, three vocabularies, one failure mode — connected by taxonomy normalization, not keywords: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10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“seal weeping at gland”     </a:t>
            </a:r>
            <a:pPr indent="0" marL="0">
              <a:buNone/>
            </a:pPr>
            <a:r>
              <a:rPr lang="en-US" sz="1300" i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“leakage at gland follower”     </a:t>
            </a:r>
            <a:pPr indent="0" marL="0">
              <a:buNone/>
            </a:pPr>
            <a:r>
              <a:rPr lang="en-US" sz="1300" i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“mech seal gone”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18 times over six years. Never connected — the system linked chronic cause to acute failures, </a:t>
            </a:r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citing the OEM manual page that explains the mechanism.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63840" y="128016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14447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92440" y="202996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entity-extraction accuracy — audited against ground truth the model never sees (was 93.7% before our own review loop found and fixed the gap)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324612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34107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92440" y="39959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generated claims cited to a source or explicitly labeled hypothesis — enforced by a two-stage validator, measured per dossier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Time-to-context: 90 seconds, versus a 2–4 hour manual baseline.  ·  Impact figures at configured downtime cost of ₹4.5L/hr.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 on purpose: the intelligence is in the substrate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76856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96896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96896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(retrieval once)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33672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53712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context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evidence pool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90488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10528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reasoning calls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· Haiku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47304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467344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67344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104120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24160" y="1371600"/>
            <a:ext cx="1664208" cy="1051560"/>
          </a:xfrm>
          <a:prstGeom prst="roundRect">
            <a:avLst>
              <a:gd name="adj" fmla="val 6087"/>
            </a:avLst>
          </a:prstGeom>
          <a:solidFill>
            <a:srgbClr val="1C2A3A"/>
          </a:solidFill>
          <a:ln w="12700">
            <a:solidFill>
              <a:srgbClr val="2A3B5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424160" y="1371600"/>
            <a:ext cx="1664208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Evidence-tiered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+ report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29077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3008376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89888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datastore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389888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+ pgvector. Typed entities and relationships — a knowledge graph in the ways that matter.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416552" y="2743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81144" y="29077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3008376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66360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where it reasons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16636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Retrieval, scoring, patterns = SQL. The LLM never fetches, never emits a confidence number.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193024" y="2743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357616" y="29077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008376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942832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the network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8942832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embeddings, seeded data, cached reasoning replay. The demo works with the wifi off.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914400" y="4590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AI — IN THE PRODUCT, NOT A SLIDE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5129784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481328" y="4974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&amp; evals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1481328" y="52852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Per-node runs, costs, and eval history persisted — accuracy curve 93.7% → 96.6% on screen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507992" y="5029200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5129784"/>
            <a:ext cx="256032" cy="25603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074920" y="4974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Guardrails, measured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5074920" y="52852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stripped, hypotheses labeled, unsafe notes deleted — counted per dossier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8101584" y="5029200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5129784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668512" y="4974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8668512" y="528523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queue for ambiguous records; every verdict stored beside the machine's answer, never over 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compounds. Applications multiply.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 order ingested makes the Operational Memory Layer smarter — and every future application reads the same memory.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CMMS / SCADA adapters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52374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PM, Maximo, historians plug into one canonical event contract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78308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P&amp;ID topology graph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49040" y="252374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become asset connectivity — richer context assembly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intelligence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75120" y="252374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mapping and audit evidence — reading the same 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18320" y="1783080"/>
            <a:ext cx="2670048" cy="1554480"/>
          </a:xfrm>
          <a:prstGeom prst="roundRect">
            <a:avLst>
              <a:gd name="adj" fmla="val 4706"/>
            </a:avLst>
          </a:prstGeom>
          <a:solidFill>
            <a:srgbClr val="17222F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0" y="193852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identity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0" y="252374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SSO + RBAC unlock managed operations and multi-plant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C2A3A"/>
          </a:solidFill>
          <a:ln w="12700">
            <a:solidFill>
              <a:srgbClr val="26354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FOR YOURSELF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4379976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81328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github.com/DKDVE/et-hackathon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81328" y="45354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repo — 27 logged architecture decisions, CI green, full audit suite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07992" y="42793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4379976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74920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by design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074920" y="45354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seed script, fresh laptop. Synthetic plant — zero data-sensitivity risk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8101584" y="4279392"/>
            <a:ext cx="457200" cy="457200"/>
          </a:xfrm>
          <a:prstGeom prst="ellipse">
            <a:avLst/>
          </a:prstGeom>
          <a:solidFill>
            <a:srgbClr val="0E1520"/>
          </a:solidFill>
          <a:ln w="12700">
            <a:solidFill>
              <a:srgbClr val="263548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4379976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68512" y="4224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instance on Azure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668512" y="453542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Apps + pgvector — credentials on request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learns — and shows its work.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Context Engine</dc:title>
  <dc:subject>PptxGenJS Presentation</dc:subject>
  <dc:creator>Team OCE</dc:creator>
  <cp:lastModifiedBy>Team OCE</cp:lastModifiedBy>
  <cp:revision>1</cp:revision>
  <dcterms:created xsi:type="dcterms:W3CDTF">2026-07-08T10:46:32Z</dcterms:created>
  <dcterms:modified xsi:type="dcterms:W3CDTF">2026-07-08T10:46:32Z</dcterms:modified>
</cp:coreProperties>
</file>